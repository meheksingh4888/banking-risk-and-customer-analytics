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0468C"/>
                </a:solidFill>
              </a:defRPr>
            </a:pPr>
            <a:r>
              <a:t>Banking Risk Customer Analytics</a:t>
            </a:r>
          </a:p>
          <a:p>
            <a:pPr>
              <a:defRPr sz="2400"/>
            </a:pPr>
            <a:r>
              <a:t>End-to-End Data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Prepared By</a:t>
            </a:r>
          </a:p>
          <a:p>
            <a:pPr>
              <a:defRPr sz="2400"/>
            </a:pPr>
            <a:r>
              <a:t>Mehek Singh</a:t>
            </a:r>
          </a:p>
          <a:p>
            <a:pPr>
              <a:defRPr sz="800"/>
            </a:pPr>
          </a:p>
          <a:p>
            <a:pPr>
              <a:defRPr b="1" sz="2200"/>
            </a:pPr>
            <a:r>
              <a:t>Technology</a:t>
            </a:r>
          </a:p>
          <a:p>
            <a:pPr>
              <a:defRPr sz="2000"/>
            </a:pPr>
            <a:r>
              <a:t>• PostgreSQL</a:t>
            </a:r>
          </a:p>
          <a:p>
            <a:pPr>
              <a:defRPr sz="2000"/>
            </a:pPr>
            <a:r>
              <a:t>• SQL</a:t>
            </a:r>
          </a:p>
          <a:p>
            <a:pPr>
              <a:defRPr sz="2000"/>
            </a:pPr>
            <a:r>
              <a:t>• Python</a:t>
            </a:r>
          </a:p>
          <a:p>
            <a:pPr>
              <a:defRPr sz="2000"/>
            </a:pPr>
            <a:r>
              <a:t>• Power BI</a:t>
            </a:r>
          </a:p>
          <a:p>
            <a:pPr>
              <a:defRPr sz="2000"/>
            </a:pPr>
            <a:r>
              <a:t>• Pandas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Problem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Banks generate huge volumes of customer, account, loan and transaction data.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Without analytics it is difficult to: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Detect fraud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Monitor customer risk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Track loan defaults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Analyze branch performance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Understand customer behavior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Goal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Build an end-to-end analytics solution to help management make data-driven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Business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Objectives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✓ Customer Analytics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✓ Account Analysis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✓ Transaction Monitoring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✓ Loan Portfolio Analysis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✓ Fraud Detection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✓ Branch Performance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✓ Executive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CSV Files</a:t>
            </a:r>
          </a:p>
          <a:p>
            <a:pPr algn="ctr">
              <a:defRPr sz="2400"/>
            </a:pPr>
            <a:r>
              <a:t>↓</a:t>
            </a:r>
          </a:p>
          <a:p>
            <a:pPr algn="ctr">
              <a:defRPr sz="2400"/>
            </a:pPr>
            <a:r>
              <a:t>Python ETL</a:t>
            </a:r>
          </a:p>
          <a:p>
            <a:pPr algn="ctr">
              <a:defRPr sz="2400"/>
            </a:pPr>
            <a:r>
              <a:t>↓</a:t>
            </a:r>
          </a:p>
          <a:p>
            <a:pPr algn="ctr">
              <a:defRPr sz="2400"/>
            </a:pPr>
            <a:r>
              <a:t>PostgreSQL Database</a:t>
            </a:r>
          </a:p>
          <a:p>
            <a:pPr algn="ctr">
              <a:defRPr sz="2400"/>
            </a:pPr>
            <a:r>
              <a:t>↓</a:t>
            </a:r>
          </a:p>
          <a:p>
            <a:pPr algn="ctr">
              <a:defRPr sz="2400"/>
            </a:pPr>
            <a:r>
              <a:t>SQL Analysis</a:t>
            </a:r>
          </a:p>
          <a:p>
            <a:pPr algn="ctr">
              <a:defRPr sz="2400"/>
            </a:pPr>
            <a:r>
              <a:t>↓</a:t>
            </a:r>
          </a:p>
          <a:p>
            <a:pPr algn="ctr">
              <a:defRPr sz="2400"/>
            </a:pPr>
            <a:r>
              <a:t>Python EDA</a:t>
            </a:r>
          </a:p>
          <a:p>
            <a:pPr algn="ctr">
              <a:defRPr sz="2400"/>
            </a:pPr>
            <a:r>
              <a:t>↓</a:t>
            </a:r>
          </a:p>
          <a:p>
            <a:pPr algn="ctr">
              <a:defRPr sz="2400"/>
            </a:pPr>
            <a:r>
              <a:t>Power BI Dashboard</a:t>
            </a:r>
          </a:p>
          <a:p>
            <a:pPr algn="ctr">
              <a:defRPr sz="2400"/>
            </a:pPr>
            <a:r>
              <a:t>↓</a:t>
            </a:r>
          </a:p>
          <a:p>
            <a:pPr algn="ctr">
              <a:defRPr sz="2400"/>
            </a:pPr>
            <a:r>
              <a:t>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Database Tables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Customers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Accounts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Transactions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Loans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Branches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Merchants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Fraud Alerts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Account Types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Loan Types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Database Concepts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Primary Keys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Foreign Keys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Relationships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Normalization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Referential Integrity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ER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/>
            </a:pPr>
            <a:r>
              <a:t>Entity Relationship Diagram</a:t>
            </a:r>
          </a:p>
          <a:p>
            <a:pPr>
              <a:defRPr sz="1200"/>
            </a:pPr>
          </a:p>
          <a:p>
            <a:pPr algn="ctr">
              <a:defRPr sz="2200"/>
            </a:pPr>
            <a:r>
              <a:t>Customers</a:t>
            </a:r>
          </a:p>
          <a:p>
            <a:pPr algn="ctr">
              <a:defRPr sz="2200"/>
            </a:pPr>
            <a:r>
              <a:t>│</a:t>
            </a:r>
          </a:p>
          <a:p>
            <a:pPr algn="ctr">
              <a:defRPr sz="2200"/>
            </a:pPr>
            <a:r>
              <a:t>Accounts</a:t>
            </a:r>
          </a:p>
          <a:p>
            <a:pPr algn="ctr">
              <a:defRPr sz="2200"/>
            </a:pPr>
            <a:r>
              <a:t>│</a:t>
            </a:r>
          </a:p>
          <a:p>
            <a:pPr algn="ctr">
              <a:defRPr sz="2200"/>
            </a:pPr>
            <a:r>
              <a:t>Transactions</a:t>
            </a:r>
          </a:p>
          <a:p>
            <a:pPr algn="ctr">
              <a:defRPr sz="2200"/>
            </a:pPr>
            <a:r>
              <a:t>│</a:t>
            </a:r>
          </a:p>
          <a:p>
            <a:pPr algn="ctr">
              <a:defRPr sz="2200"/>
            </a:pPr>
            <a:r>
              <a:t>Loans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SQL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SQL Concepts Used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Joins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Common Table Expressions (CTEs)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Window Functions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Views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Stored Procedures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Functions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Indexing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Query Optimization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Aggregations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GROUP BY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HAVING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Example SQL Query</a:t>
            </a:r>
          </a:p>
          <a:p>
            <a:pPr>
              <a:defRPr sz="1600">
                <a:latin typeface="Courier New"/>
              </a:defRPr>
            </a:pPr>
            <a:r>
              <a:t>SELECT customer_id,</a:t>
            </a:r>
          </a:p>
          <a:p>
            <a:pPr>
              <a:defRPr sz="1600">
                <a:latin typeface="Courier New"/>
              </a:defRPr>
            </a:pPr>
            <a:r>
              <a:t>COUNT(*) AS loan_count,</a:t>
            </a:r>
          </a:p>
          <a:p>
            <a:pPr>
              <a:defRPr sz="1600">
                <a:latin typeface="Courier New"/>
              </a:defRPr>
            </a:pPr>
            <a:r>
              <a:t>SUM(loan_amount)</a:t>
            </a:r>
          </a:p>
          <a:p>
            <a:pPr>
              <a:defRPr sz="1600">
                <a:latin typeface="Courier New"/>
              </a:defRPr>
            </a:pPr>
            <a:r>
              <a:t>FROM loans</a:t>
            </a:r>
          </a:p>
          <a:p>
            <a:pPr>
              <a:defRPr sz="1600">
                <a:latin typeface="Courier New"/>
              </a:defRPr>
            </a:pPr>
            <a:r>
              <a:t>GROUP BY customer_id;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Python ETL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ETL Process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Reading CSV Files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Data Cleaning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Missing Value Handling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Duplicate Removal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Data Validation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Data Type Conversion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Loading Data into PostgreSQL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Error Handling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Logging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Python Libraries Used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pandas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psycopg2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numpy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Python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Python Analysis Modules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customer_analysis.py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account_analysis.py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transaction_analysis.py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loan_analysis.py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branch_analysis.py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merchant_analysis.py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fraud_analysis.py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executive_summary.py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Analysis Performed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Customer segmentation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Account performance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Transaction trends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Loan analysis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Branch-wise KPIs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Fraud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Executive Dashboard Features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KPI Cards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Interactive Charts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Filters &amp; Slicers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Customer Analysis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Branch Performance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Transaction Monitoring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Loan Portfolio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Risk Analysis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Business users can interact with the dashboard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to explore insights and monitor banking performance.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Project Summary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Total Customers : 20,000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Total Accounts : 30,000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Total Transactions : 500,000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Loan Portfolio : ₹25.27 Billion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Failed Transactions : 9,863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International Transactions : 10,040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Loan Defaults : 788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These insights help management make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data-driven business decisions.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Risk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Major Risks Identified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Dormant Accounts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Failed Transactions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High Loan Exposure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International Transactions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Low Credit Score Customers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Risk Monitoring Benefits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Early fraud detection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Better customer monitoring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Improved loan recovery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Reduced financial risk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Better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Recommended Actions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Monitor high-risk customers regularly.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Reduce failed transactions through system optimization.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Improve branch performance using KPI monitoring.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Promote digital banking adoption.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Enhance loan approval strategy with risk scoring.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Strengthen fraud monitoring and alert systems.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Expected Benefits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Better customer satisfaction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Reduced operational risk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Improved profitability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Faster decision-making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Future Enhancements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Real-time Dashboard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Machine Learning Risk Prediction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AI-based Fraud Detection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Customer Churn Prediction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Cloud Deployment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Power BI Service Integration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Automated Email Alerts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Predictive Analytics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• Mobile Dashboard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188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468C"/>
                </a:solidFill>
              </a:defRPr>
            </a:pPr>
            <a:r>
              <a:t>THANK YOU</a:t>
            </a:r>
          </a:p>
          <a:p>
            <a:pPr>
              <a:defRPr sz="1000"/>
            </a:pPr>
          </a:p>
          <a:p>
            <a:pPr algn="ctr">
              <a:defRPr sz="2600" b="1"/>
            </a:pPr>
            <a:r>
              <a:t>Questions?</a:t>
            </a:r>
          </a:p>
          <a:p>
            <a:pPr>
              <a:defRPr sz="1000"/>
            </a:pPr>
          </a:p>
          <a:p>
            <a:pPr algn="ctr">
              <a:defRPr sz="2400" b="1"/>
            </a:pPr>
            <a:r>
              <a:t>Mehek Singh</a:t>
            </a:r>
          </a:p>
          <a:p>
            <a:pPr algn="ctr">
              <a:defRPr sz="2000"/>
            </a:pPr>
            <a:r>
              <a:t>Data Analyst | SQL | Python | Power BI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45720"/>
          </a:xfrm>
          <a:prstGeom prst="rect">
            <a:avLst/>
          </a:prstGeom>
          <a:solidFill>
            <a:srgbClr val="00468C"/>
          </a:solidFill>
          <a:ln>
            <a:solidFill>
              <a:srgbClr val="004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</a:defRPr>
            </a:pPr>
            <a:r>
              <a:t>Prepared By: Mehek Singh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